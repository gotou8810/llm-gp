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この論文はPart Iで、方程式が分かっているときに解を求める話。Part IIでは、データから方程式の中の定数（物理パラメータ）を推定する話を扱っている。異常検知では、この定数の変化を見る使い方につながる。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論文の式では MSE = MSE_u + MSE_f。MSE_u がデータとのずれ、MSE_f が方程式からのずれ。方程式に代入するときに必要な微分は、NNの自動微分で計算する。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Burgersの条件：x は −1〜1、t は 0〜1。最初の形は u = −sin(πx)、両端では常に u = 0。このBurgersは厳密解が式で求まるので、それを正解として使っている。誤差は相対L2誤差で 6.7×10^-4。NNは9層×20ユニット、学習は約60秒。 Schrödinger方程式（波の伝わり方）でも同じテストをしている。正解の値は時刻0の50点だけで、両端には「左右の値が等しい」という条件を課している（図の150点はこれらの合計）。正解は高精度の数値シミュレーションで作り、誤差は約0.2%（1.97×10^-3）。 補足：方程式を課す点やデータ点を増やすとおおむね精度が上がるが、単調ではなく、Nu=20, Nf=7000 では誤差1.2と大きく外れる例もある（Table 1）。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段数qを増やしても、NNで増えるのは最後の層のパラメータだけなので、計算の負担はほとんど増えない。Allen–Cahn方程式（200点、q=100）でも誤差6.99×10^-3で予測できている。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右の列は論文の記述ではなく、異常検知に使う立場からの解釈。最後の行も同様。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の例はIDV4（反応器の冷却水入口温度のステップ変化）。反応器温度XMEAS9はほとんど動かず、冷却水流量XMV10が変化する。物理法則が破れているのではなく、式に制御の入力が抜けていることが原因と考えている。 式がずれる仕組み：弁が開いて冷却水が増えること自体は正常でも起こり、そのときは熱収支が成り立つ。IDV4で式がずれる原因は、入口温度が上がったのに、式では入口温度を正常時の値（λ）に固定していること。弁が開いて流量が増えるほど、計算上の「冷却水が運び出す熱」と実際との差が大きくなり、残差として現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応器側の熱収支には反応熱（組成によって変わり、分からない）が入るので使わず、冷却水側だけで式を作っている。弁の開き具合から流量への換算は、最初は比例と仮定し、その係数も定数として推定する。データは3分おきなので、最初は温度変化を0とおいた釣り合いの式から始める。収支そのもの（流量の足し算など）は測定が正しければ異常時でも成り立つため、主にセンサ異常の検出に使う。プロセス異常を拾うには、異常で値が変わる定数を含む式を選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変数：凝縮器はXMEAS11, XMEAS22, XMV11。ストリッパはXMEAS15（液位）、XMEAS14（流入）、XMEAS17（流出）。XMEAS4（A・C混合フィード）はガスで入るので液の収支には直接入らず、式で書けない部分として扱う。合流部はXMEAS6 ≒ XMEAS1 + XMEAS2 + XMEAS3 + XMEAS5 + 非測定のストリッパ塔頂流量で、kg/hとkscmhの換算が必要。変数の定義と単位はDowns &amp; Vogel (1993)で確認する。異常との対応は仮説。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式で書くと、予測 x̂(n+1) = F(x(n), u(n))、損失 L = ‖x̂(n+1) − x(n+1)‖² + α Σ‖r_k‖² + β‖δ‖²。xは連続計測のプロセス値22変数、uは操作量XMV1〜11、r_kは各式のずれ、δは式で表せない部分を補うNN。βを大きくするほど補える量が制限される。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これまで作ったLLM-GPとJuliaの評価エンジンは、候補を出して検証する部分でそのまま使える。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PCAとの比較はT²統計量とSPE（Q統計量）で、検出率と検出遅れを見る。データは、Braatz版は正常の学習データが約500サンプルと少ないので、Rieth et al. (2017) の大規模版の併用を検討する。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83405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B8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ゼミ進捗報告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986303"/>
            <a:ext cx="10883393" cy="180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i="0" dirty="0">
                <a:solidFill>
                  <a:srgbClr val="F4F5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PINNs（物理法則を組み込んだ</a:t>
            </a:r>
            <a:endParaRPr lang="en-US" sz="3600" dirty="0"/>
          </a:p>
          <a:p>
            <a:pPr algn="l" indent="0" marL="0">
              <a:lnSpc>
                <a:spcPts val="4680"/>
              </a:lnSpc>
              <a:buNone/>
            </a:pPr>
            <a:r>
              <a:rPr lang="en-US" sz="3600" b="1" i="0" dirty="0">
                <a:solidFill>
                  <a:srgbClr val="F4F5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ニューラルネットワーク）の調査と</a:t>
            </a:r>
            <a:endParaRPr lang="en-US" sz="3600" dirty="0"/>
          </a:p>
          <a:p>
            <a:pPr algn="l" indent="0" marL="0">
              <a:lnSpc>
                <a:spcPts val="4680"/>
              </a:lnSpc>
              <a:buNone/>
            </a:pPr>
            <a:r>
              <a:rPr lang="en-US" sz="3600" b="1" i="0" dirty="0">
                <a:solidFill>
                  <a:srgbClr val="F4F5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TEP異常検知への応用の検討</a:t>
            </a:r>
            <a:endParaRPr lang="en-US" sz="36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023349"/>
            <a:ext cx="1016000" cy="25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302749"/>
            <a:ext cx="10883393" cy="5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9D1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対象論文：M. Raissi, P. Perdikaris, G. E. Karniadakis,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9D1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"Physics Informed Deep Learning (Part I)", arXiv:1711.10561, 2017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5125641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[日付]　[氏名]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論文の概要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30350"/>
            <a:ext cx="10883393" cy="350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物理法則（方程式）を学習の目標に組み込んだニューラルネットワーク（NN）を提案した論文。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138023"/>
            <a:ext cx="3380298" cy="2007337"/>
          </a:xfrm>
          <a:prstGeom prst="roundRect">
            <a:avLst>
              <a:gd name="adj" fmla="val 3638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429" y="2392476"/>
            <a:ext cx="2957533" cy="284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通常のNNの弱点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0429" y="2753123"/>
            <a:ext cx="2957533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データだけから学ぶため、データが少ないと、物理的にありえない答えを出すことがある。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23" y="2138023"/>
            <a:ext cx="3380298" cy="2007337"/>
          </a:xfrm>
          <a:prstGeom prst="roundRect">
            <a:avLst>
              <a:gd name="adj" fmla="val 3638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276" y="2392476"/>
            <a:ext cx="2957533" cy="284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PINNsの考え方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0276" y="2753123"/>
            <a:ext cx="2957533" cy="116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「測定データに合うこと」に加えて、「物理の方程式を満たすこと」も学習の目標にする。方程式がデータの不足を補う。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71" y="2138023"/>
            <a:ext cx="3380298" cy="2007337"/>
          </a:xfrm>
          <a:prstGeom prst="roundRect">
            <a:avLst>
              <a:gd name="adj" fmla="val 3638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124" y="2392476"/>
            <a:ext cx="2957533" cy="284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論文で示したこと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50124" y="2753123"/>
            <a:ext cx="2957533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流体や波の方程式を例に、少ないデータから時間・空間全体の変化を高い精度で再現できた。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427935"/>
            <a:ext cx="10883393" cy="30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提案されたモデルは2種類：</a:t>
            </a:r>
            <a:r>
              <a:rPr lang="en-US" sz="1400" b="1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連続時間モデル</a:t>
            </a: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（3〜4ページ）と</a:t>
            </a:r>
            <a:r>
              <a:rPr lang="en-US" sz="1400" b="1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離散時間モデル</a:t>
            </a: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（5ページ）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808" y="6238252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連続時間モデルの仕組み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5975" y="1533525"/>
            <a:ext cx="1822450" cy="889907"/>
          </a:xfrm>
          <a:prstGeom prst="roundRect">
            <a:avLst>
              <a:gd name="adj" fmla="val 8206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  <p:txBody>
          <a:bodyPr wrap="square" lIns="131465" tIns="156865" rIns="13146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時刻と位置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を入力</a:t>
            </a:r>
            <a:endParaRPr lang="en-US" sz="14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41600" y="1940379"/>
            <a:ext cx="355600" cy="7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00375" y="1533525"/>
            <a:ext cx="1822450" cy="889907"/>
          </a:xfrm>
          <a:prstGeom prst="roundRect">
            <a:avLst>
              <a:gd name="adj" fmla="val 8206"/>
            </a:avLst>
          </a:prstGeom>
          <a:solidFill>
            <a:srgbClr val="E4ECF6"/>
          </a:solidFill>
          <a:ln w="6350">
            <a:solidFill>
              <a:srgbClr val="B9CCE4"/>
            </a:solidFill>
            <a:prstDash val="solid"/>
          </a:ln>
        </p:spPr>
        <p:txBody>
          <a:bodyPr wrap="square" lIns="131465" tIns="156865" rIns="13146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NN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（予測モデル）</a:t>
            </a:r>
            <a:endParaRPr lang="en-US" sz="1400" dirty="0"/>
          </a:p>
        </p:txBody>
      </p:sp>
      <p:pic>
        <p:nvPicPr>
          <p:cNvPr id="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6000" y="1940379"/>
            <a:ext cx="355600" cy="76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84775" y="1533525"/>
            <a:ext cx="1822450" cy="889907"/>
          </a:xfrm>
          <a:prstGeom prst="roundRect">
            <a:avLst>
              <a:gd name="adj" fmla="val 8206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  <p:txBody>
          <a:bodyPr wrap="square" lIns="131465" tIns="156865" rIns="13146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その時刻・位置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での値を予測</a:t>
            </a:r>
            <a:endParaRPr lang="en-US" sz="1400" dirty="0"/>
          </a:p>
        </p:txBody>
      </p:sp>
      <p:pic>
        <p:nvPicPr>
          <p:cNvPr id="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10400" y="1940379"/>
            <a:ext cx="355600" cy="76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69175" y="1533525"/>
            <a:ext cx="1822450" cy="889907"/>
          </a:xfrm>
          <a:prstGeom prst="roundRect">
            <a:avLst>
              <a:gd name="adj" fmla="val 8206"/>
            </a:avLst>
          </a:prstGeom>
          <a:solidFill>
            <a:srgbClr val="E4ECF6"/>
          </a:solidFill>
          <a:ln w="6350">
            <a:solidFill>
              <a:srgbClr val="B9CCE4"/>
            </a:solidFill>
            <a:prstDash val="solid"/>
          </a:ln>
        </p:spPr>
        <p:txBody>
          <a:bodyPr wrap="square" lIns="131466" tIns="156865" rIns="13146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予測値を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方程式に代入</a:t>
            </a:r>
            <a:endParaRPr lang="en-US" sz="1400" dirty="0"/>
          </a:p>
        </p:txBody>
      </p:sp>
      <p:pic>
        <p:nvPicPr>
          <p:cNvPr id="1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94801" y="1940379"/>
            <a:ext cx="355600" cy="76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53576" y="1533525"/>
            <a:ext cx="1822450" cy="889907"/>
          </a:xfrm>
          <a:prstGeom prst="roundRect">
            <a:avLst>
              <a:gd name="adj" fmla="val 8206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  <p:txBody>
          <a:bodyPr wrap="square" lIns="131465" tIns="156865" rIns="13146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方程式からの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ずれ（残差）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12800" y="2706008"/>
            <a:ext cx="10883393" cy="34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学習の目標：次の2つのずれを同時に小さくする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831850" y="3305403"/>
            <a:ext cx="0" cy="990487"/>
          </a:xfrm>
          <a:prstGeom prst="line">
            <a:avLst/>
          </a:prstGeom>
          <a:noFill/>
          <a:ln w="38100">
            <a:solidFill>
              <a:srgbClr val="2B63A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052286" y="3356203"/>
            <a:ext cx="5090378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データとのずれ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052286" y="3676197"/>
            <a:ext cx="5090378" cy="5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値が分かっている点（初期条件・境界条件など）で、予測値と正解の値がどれだけ違うか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216650" y="3305403"/>
            <a:ext cx="0" cy="990487"/>
          </a:xfrm>
          <a:prstGeom prst="line">
            <a:avLst/>
          </a:prstGeom>
          <a:noFill/>
          <a:ln w="38100">
            <a:solidFill>
              <a:srgbClr val="2B63A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37086" y="3356203"/>
            <a:ext cx="5090378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方程式からのずれ（残差）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37086" y="3676197"/>
            <a:ext cx="5090378" cy="5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測定していない点も含めて、予測値が方程式をどれだけ満たしていないか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12800" y="4575290"/>
            <a:ext cx="10566401" cy="873692"/>
          </a:xfrm>
          <a:prstGeom prst="roundRect">
            <a:avLst>
              <a:gd name="adj" fmla="val 5814"/>
            </a:avLst>
          </a:prstGeom>
          <a:solidFill>
            <a:srgbClr val="ECEFF2"/>
          </a:solidFill>
          <a:ln/>
        </p:spPr>
        <p:txBody>
          <a:bodyPr wrap="square" lIns="188321" tIns="137521" rIns="0" bIns="11212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②は「物理的にありえない答え」への罰則として働く。正常なら0に近くなるので、</a:t>
            </a:r>
            <a:r>
              <a:rPr lang="en-US" sz="1400" b="1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0から離れたら異常の目印</a:t>
            </a: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として使える（本研究で利用する点）。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5808" y="6238252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連続時間モデルの検証：Burgers方程式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1850" y="1504950"/>
            <a:ext cx="0" cy="1113008"/>
          </a:xfrm>
          <a:prstGeom prst="line">
            <a:avLst/>
          </a:prstGeom>
          <a:noFill/>
          <a:ln w="38100">
            <a:solidFill>
              <a:srgbClr val="2B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886" y="1530350"/>
            <a:ext cx="5639780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何をしているか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6886" y="1824944"/>
            <a:ext cx="5639780" cy="79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答えが分かっている方程式を、PINNで正しく解けるか確かめるテスト。Burgers方程式は、直線上の流れの速さ u(t, x) の時間変化を表す簡単なモデルで、途中で急な段差ができる。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1850" y="2795756"/>
            <a:ext cx="0" cy="1113008"/>
          </a:xfrm>
          <a:prstGeom prst="line">
            <a:avLst/>
          </a:prstGeom>
          <a:noFill/>
          <a:ln w="38100">
            <a:solidFill>
              <a:srgbClr val="2B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86" y="2821156"/>
            <a:ext cx="5639780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学習に使ったもの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6886" y="3115752"/>
            <a:ext cx="5639780" cy="79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正解の値：時刻0の形と両端の値（問題の条件として決まっている）から選んだ100点（図の×）。実験の測定値ではない。内部には、方程式だけを課す点を10,000点置いた。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1850" y="4086565"/>
            <a:ext cx="0" cy="1113008"/>
          </a:xfrm>
          <a:prstGeom prst="line">
            <a:avLst/>
          </a:prstGeom>
          <a:noFill/>
          <a:ln w="38100">
            <a:solidFill>
              <a:srgbClr val="2B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6886" y="4111965"/>
            <a:ext cx="5639780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誤差の意味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6886" y="4406559"/>
            <a:ext cx="5639780" cy="79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PINNの予測と、式で厳密に求めた正解との差を領域全体で測ったもの（差の大きさ ÷ 解の大きさ）。約0.07%で、図下段の青線（正解）と赤点線（予測）はほぼ重なる。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07200" y="1504950"/>
            <a:ext cx="4572000" cy="3409950"/>
          </a:xfrm>
          <a:prstGeom prst="roundRect">
            <a:avLst>
              <a:gd name="adj" fmla="val 1490"/>
            </a:avLst>
          </a:prstGeom>
          <a:solidFill>
            <a:srgbClr val="FFFFFF"/>
          </a:solidFill>
          <a:ln/>
        </p:spPr>
      </p:sp>
      <p:pic>
        <p:nvPicPr>
          <p:cNvPr id="13" name="Image 0" descr="論文Figure 1：Burgers方程式のPINNによる予測。上段は時刻と位置ごとの予測値と学習点、下段は3つの時刻での正解と予測の比較">    </p:cNvPr>
          <p:cNvPicPr>
            <a:picLocks noChangeAspect="1"/>
          </p:cNvPicPr>
          <p:nvPr/>
        </p:nvPicPr>
        <p:blipFill>
          <a:blip r:embed="rId1"/>
          <a:srcRect l="-11" r="-11" t="0" b="0"/>
          <a:stretch/>
        </p:blipFill>
        <p:spPr>
          <a:xfrm>
            <a:off x="6813550" y="1511300"/>
            <a:ext cx="4559300" cy="3397250"/>
          </a:xfrm>
          <a:prstGeom prst="roundRect">
            <a:avLst>
              <a:gd name="adj" fmla="val 1308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6810375" y="1508125"/>
            <a:ext cx="4565650" cy="3403600"/>
          </a:xfrm>
          <a:prstGeom prst="roundRect">
            <a:avLst>
              <a:gd name="adj" fmla="val 1399"/>
            </a:avLst>
          </a:prstGeom>
          <a:noFill/>
          <a:ln w="6350">
            <a:solidFill>
              <a:srgbClr val="DDE1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07200" y="4991100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論文 Figure 1。上：予測した u(t, x)（色）と学習に使った点（×）。下：3つの時刻での正解と予測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5808" y="623825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離散時間モデル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10883393" cy="350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ある時刻の値から、</a:t>
            </a: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少し先の時刻の値</a:t>
            </a:r>
            <a:r>
              <a:rPr lang="en-US" sz="16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を予測するモデル。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8332" y="2084050"/>
            <a:ext cx="5634895" cy="230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8468" indent="-1884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数値計算の標準的な方法（Runge–Kutta法）の手順をNNで表現する</a:t>
            </a:r>
            <a:endParaRPr lang="en-US" sz="1400" dirty="0"/>
          </a:p>
          <a:p>
            <a:pPr algn="l" marL="188468" indent="-1884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途中の計算段数を増やすと、予測する時間の間隔を大きくしても精度が落ちにくい</a:t>
            </a:r>
            <a:endParaRPr lang="en-US" sz="1400" dirty="0"/>
          </a:p>
          <a:p>
            <a:pPr algn="l" marL="188468" indent="-1884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例：時刻0.1の250点の値から、時刻0.9の値を一度に予測し、誤差は約0.08%</a:t>
            </a:r>
            <a:endParaRPr lang="en-US" sz="1400" dirty="0"/>
          </a:p>
          <a:p>
            <a:pPr algn="l" marL="188468" indent="-1884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プラントの測定値は数分おきに得られるので、「今の値から次の値を予測する」この形は監視に向いている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760993" y="2084050"/>
            <a:ext cx="47567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計算段数と予測間隔による誤差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71878" y="2450535"/>
          <a:ext cx="4607322" cy="1920875"/>
        </p:xfrm>
        <a:graphic>
          <a:graphicData uri="http://schemas.openxmlformats.org/drawingml/2006/table">
            <a:tbl>
              <a:tblPr/>
              <a:tblGrid>
                <a:gridCol w="1382197"/>
                <a:gridCol w="1612563"/>
                <a:gridCol w="1612563"/>
              </a:tblGrid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段数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間隔 小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間隔 大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3.5%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38%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0.54%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22%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0.074%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0.070%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500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0.041%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0.082%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60993" y="4498411"/>
            <a:ext cx="47567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Burgers方程式、論文Table 4より抜粋（間隔 小 = 0.2、大 = 0.8）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5808" y="6238252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3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論文の限界と異常検知での注意点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686" y="1541239"/>
          <a:ext cx="10555515" cy="2553947"/>
        </p:xfrm>
        <a:graphic>
          <a:graphicData uri="http://schemas.openxmlformats.org/drawingml/2006/table">
            <a:tbl>
              <a:tblPr/>
              <a:tblGrid>
                <a:gridCol w="4855537"/>
                <a:gridCol w="5699978"/>
              </a:tblGrid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論文の限界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異常検知に使うときの影響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学習が必ずうまくいく保証はない（著者も明記）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設定次第で結果が変わるので、調整が必要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07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予測がどの程度確かかは示せない（今後の課題として記載）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「どこからを異常とするか」の境目を決める根拠が弱い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実験はすべてノイズのない計算データ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実際のプラントデータでうまくいくかは未確認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方程式が分かっていることが前提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式で表せない部分を別に扱う必要がある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連続時間モデルは決まった1回分の変化を学習する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次々に届くデータの監視には離散時間モデルの形が向く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95808" y="6238252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現在の手法（LLM-GP）の課題との対応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41450"/>
            <a:ext cx="1088339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TEP：化学プラントを模擬したシミュレーション。異常検知研究で広く使われる標準データ。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5149850" cy="2908981"/>
          </a:xfrm>
          <a:prstGeom prst="roundRect">
            <a:avLst>
              <a:gd name="adj" fmla="val 2510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429" y="2137228"/>
            <a:ext cx="4780171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LLMが指示に従わない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0429" y="2482621"/>
            <a:ext cx="4780171" cy="5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LLMに「物理法則に合う式を作って」と指示しても、守られないことがある。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0429" y="3132817"/>
            <a:ext cx="4780171" cy="5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PINNsでは物理法則を学習の目標そのものに入れるので、指示に頼らずに済む（ずれが完全に0になる保証はない）。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70429" y="3783013"/>
            <a:ext cx="4780171" cy="265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PINNsで改善が見込める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26175" y="1882775"/>
            <a:ext cx="5149850" cy="2908981"/>
          </a:xfrm>
          <a:prstGeom prst="roundRect">
            <a:avLst>
              <a:gd name="adj" fmla="val 2510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0629" y="2137228"/>
            <a:ext cx="4780171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制御の影響で式が成り立たない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0629" y="2482621"/>
            <a:ext cx="4780171" cy="84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プラントは自動制御で運転されている。例：冷却水が温まると、制御が冷却水を自動で増やし、反応器の温度を一定に保つ。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80629" y="3407113"/>
            <a:ext cx="4780171" cy="5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温度だけを見ると変化が見えず、物理法則に合わないように見える。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80629" y="4057309"/>
            <a:ext cx="4780171" cy="50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A855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PINNsでも同じ。制御が動かした量（操作量）も式に入れる必要がある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2800" y="4985429"/>
            <a:ext cx="10883393" cy="5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制御が温度を一定に保つため、異常の影響は温度ではなく操作量（冷却水の弁）の変化として現れる。熱収支の式に操作量を入れておけば、その変化が正常かどうかを判定できる。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808" y="6238252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物理法則の与え方：反応器の冷却の例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44625"/>
            <a:ext cx="4895793" cy="969282"/>
          </a:xfrm>
          <a:prstGeom prst="roundRect">
            <a:avLst>
              <a:gd name="adj" fmla="val 7534"/>
            </a:avLst>
          </a:prstGeom>
          <a:solidFill>
            <a:srgbClr val="E4ECF6"/>
          </a:solidFill>
          <a:ln w="6350">
            <a:solidFill>
              <a:srgbClr val="B9CC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9629" y="1648278"/>
            <a:ext cx="46231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反応器から冷却水に移る熱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19629" y="1953078"/>
            <a:ext cx="462314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伝わりやすさ ×（反応器温度 − 冷却水出口温度）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18143" y="1680369"/>
            <a:ext cx="426788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80175" y="1444625"/>
            <a:ext cx="4895850" cy="969282"/>
          </a:xfrm>
          <a:prstGeom prst="roundRect">
            <a:avLst>
              <a:gd name="adj" fmla="val 7534"/>
            </a:avLst>
          </a:prstGeom>
          <a:solidFill>
            <a:srgbClr val="E4ECF6"/>
          </a:solidFill>
          <a:ln w="6350">
            <a:solidFill>
              <a:srgbClr val="B9C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3829" y="1648278"/>
            <a:ext cx="46231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冷却水が運び出す熱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83829" y="1953078"/>
            <a:ext cx="4623199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冷却水の流量 ×（出口温度 − 入口温度）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686" y="2618466"/>
          <a:ext cx="10555515" cy="1854257"/>
        </p:xfrm>
        <a:graphic>
          <a:graphicData uri="http://schemas.openxmlformats.org/drawingml/2006/table">
            <a:tbl>
              <a:tblPr/>
              <a:tblGrid>
                <a:gridCol w="4222206"/>
                <a:gridCol w="2955544"/>
                <a:gridCol w="3377765"/>
              </a:tblGrid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式に使う量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TEPの変数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扱い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反応器温度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XMEAS9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測定値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冷却水出口温度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XMEAS21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測定値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冷却水の弁の開き具合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XMV10（操作量）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測定値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冷却水入口温度、伝わりやすさ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なし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正常データから推定する定数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4663222"/>
            <a:ext cx="10566401" cy="873692"/>
          </a:xfrm>
          <a:prstGeom prst="roundRect">
            <a:avLst>
              <a:gd name="adj" fmla="val 5814"/>
            </a:avLst>
          </a:prstGeom>
          <a:solidFill>
            <a:srgbClr val="ECEFF2"/>
          </a:solidFill>
          <a:ln/>
        </p:spPr>
        <p:txBody>
          <a:bodyPr wrap="square" lIns="188321" tIns="137521" rIns="0" bIns="11212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冷却水の入口温度が変わる異常（IDV4, 11）や、冷却水の弁が固着する異常（IDV14）では、左右が合わなくなる。操作量を式に含めているので、制御が温度を保っていてもずれは消えない。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5808" y="6238252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TEPで使う物理法則の候補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10883393" cy="30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プラント全体を1つの式にはせず、装置ごとに、測定値と操作量だけで書ける式を使う。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686" y="2054283"/>
          <a:ext cx="10555515" cy="1854257"/>
        </p:xfrm>
        <a:graphic>
          <a:graphicData uri="http://schemas.openxmlformats.org/drawingml/2006/table">
            <a:tbl>
              <a:tblPr/>
              <a:tblGrid>
                <a:gridCol w="2322213"/>
                <a:gridCol w="5066647"/>
                <a:gridCol w="3166655"/>
              </a:tblGrid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装置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使う関係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主に検出したい異常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反応器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移った熱 ＝ 冷却水が運び出す熱（前ページ）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冷却水の異常（IDV4, 11, 14）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凝縮器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反応器と同じ形の熱の釣り合い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冷却水の異常（IDV5, 12, 15）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ストリッパ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液位の変化 ＝ 入る液量 − 出る液量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ストリッパまわりの異常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51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原料の合流部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合流後の流量 ＝ 合流前の流量の和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主にセンサの異常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85063" y="4162543"/>
            <a:ext cx="10803510" cy="5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737" indent="-181737">
              <a:lnSpc>
                <a:spcPts val="2160"/>
              </a:lnSpc>
              <a:buSzPct val="100000"/>
              <a:buChar char="•"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測れない量（換算係数など）は、正常データから推定する定数として扱う</a:t>
            </a:r>
            <a:endParaRPr lang="en-US" sz="1350" dirty="0"/>
          </a:p>
          <a:p>
            <a:pPr algn="l" marL="181737" indent="-181737">
              <a:lnSpc>
                <a:spcPts val="2160"/>
              </a:lnSpc>
              <a:buSzPct val="100000"/>
              <a:buChar char="•"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どの式が合わなくなったかで、異常の起きた場所を絞り込める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5808" y="6238255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異常検知の仕組み（構成案）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08125"/>
            <a:ext cx="3380298" cy="1598499"/>
          </a:xfrm>
          <a:prstGeom prst="roundRect">
            <a:avLst>
              <a:gd name="adj" fmla="val 4568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029" y="1737184"/>
            <a:ext cx="30098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物理法則の式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5029" y="2054684"/>
            <a:ext cx="3009857" cy="5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装置ごとの式を用意し、分からない定数を正常データから推定する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05823" y="1508125"/>
            <a:ext cx="3380298" cy="1598499"/>
          </a:xfrm>
          <a:prstGeom prst="roundRect">
            <a:avLst>
              <a:gd name="adj" fmla="val 4568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4876" y="1737184"/>
            <a:ext cx="30098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予測モデル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34876" y="2054684"/>
            <a:ext cx="3009857" cy="84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今の測定値と操作量から次の時刻の値を予測する。1の式を満たすように学習する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95671" y="1508125"/>
            <a:ext cx="3380298" cy="1598499"/>
          </a:xfrm>
          <a:prstGeom prst="roundRect">
            <a:avLst>
              <a:gd name="adj" fmla="val 4568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4724" y="1737184"/>
            <a:ext cx="30098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63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異常の判定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4724" y="2054684"/>
            <a:ext cx="3009857" cy="84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予測のずれ、式のずれ、定数の変化を監視し、正常時の範囲を超えたら異常とする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8332" y="3363801"/>
            <a:ext cx="10810241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8468" indent="-1884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操作量を入力に入れることで、制御の影響（②の課題）に対処する</a:t>
            </a:r>
            <a:endParaRPr lang="en-US" sz="1400" dirty="0"/>
          </a:p>
          <a:p>
            <a:pPr algn="l" marL="188468" indent="-1884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式で表せない部分は小さなNNで補う。ただし異常まで吸収しないよう、正常データだけで学習し、補える量を制限する</a:t>
            </a:r>
            <a:endParaRPr lang="en-US" sz="1400" dirty="0"/>
          </a:p>
          <a:p>
            <a:pPr algn="l" marL="188468" indent="-1884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どの式がずれたか、どの定数が変わったかで、異常の場所と原因を説明できる（ブラックボックス手法との違い）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808" y="6238255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6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LLM-GPの役割の変更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5975" y="1533531"/>
            <a:ext cx="2368550" cy="889907"/>
          </a:xfrm>
          <a:prstGeom prst="roundRect">
            <a:avLst>
              <a:gd name="adj" fmla="val 8206"/>
            </a:avLst>
          </a:prstGeom>
          <a:solidFill>
            <a:srgbClr val="E4ECF6"/>
          </a:solidFill>
          <a:ln w="6350">
            <a:solidFill>
              <a:srgbClr val="B9CCE4"/>
            </a:solidFill>
            <a:prstDash val="solid"/>
          </a:ln>
        </p:spPr>
        <p:txBody>
          <a:bodyPr wrap="square" lIns="126685" tIns="156865" rIns="12668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LLM-GP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式の候補を出す</a:t>
            </a:r>
            <a:endParaRPr lang="en-US" sz="14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7700" y="1940384"/>
            <a:ext cx="355600" cy="7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46475" y="1533531"/>
            <a:ext cx="2368550" cy="889907"/>
          </a:xfrm>
          <a:prstGeom prst="roundRect">
            <a:avLst>
              <a:gd name="adj" fmla="val 8206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  <p:txBody>
          <a:bodyPr wrap="square" lIns="126685" tIns="156865" rIns="12668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データと物理で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候補を検証</a:t>
            </a:r>
            <a:endParaRPr lang="en-US" sz="1400" dirty="0"/>
          </a:p>
        </p:txBody>
      </p:sp>
      <p:pic>
        <p:nvPicPr>
          <p:cNvPr id="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18200" y="1940384"/>
            <a:ext cx="355600" cy="76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6975" y="1533531"/>
            <a:ext cx="2368550" cy="889907"/>
          </a:xfrm>
          <a:prstGeom prst="roundRect">
            <a:avLst>
              <a:gd name="adj" fmla="val 8206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  <p:txBody>
          <a:bodyPr wrap="square" lIns="126685" tIns="156865" rIns="12668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合格した式で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異常を監視</a:t>
            </a:r>
            <a:endParaRPr lang="en-US" sz="1400" dirty="0"/>
          </a:p>
        </p:txBody>
      </p:sp>
      <p:pic>
        <p:nvPicPr>
          <p:cNvPr id="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48700" y="1940384"/>
            <a:ext cx="355600" cy="76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07476" y="1533531"/>
            <a:ext cx="2368550" cy="889907"/>
          </a:xfrm>
          <a:prstGeom prst="roundRect">
            <a:avLst>
              <a:gd name="adj" fmla="val 8206"/>
            </a:avLst>
          </a:prstGeom>
          <a:solidFill>
            <a:srgbClr val="E4ECF6"/>
          </a:solidFill>
          <a:ln w="6350">
            <a:solidFill>
              <a:srgbClr val="B9CCE4"/>
            </a:solidFill>
            <a:prstDash val="solid"/>
          </a:ln>
        </p:spPr>
        <p:txBody>
          <a:bodyPr wrap="square" lIns="126685" tIns="156865" rIns="126685" bIns="13146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結果を文章で説明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831850" y="2706012"/>
            <a:ext cx="0" cy="1259738"/>
          </a:xfrm>
          <a:prstGeom prst="line">
            <a:avLst/>
          </a:prstGeom>
          <a:noFill/>
          <a:ln w="38100">
            <a:solidFill>
              <a:srgbClr val="6A748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052286" y="2756812"/>
            <a:ext cx="50642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これまで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52286" y="3061612"/>
            <a:ext cx="5064216" cy="59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LLMが式を作り、物理的な制約は指示文で伝えていた。制約が守られるかはLLM次第だった。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42050" y="2706012"/>
            <a:ext cx="0" cy="1259738"/>
          </a:xfrm>
          <a:prstGeom prst="line">
            <a:avLst/>
          </a:prstGeom>
          <a:noFill/>
          <a:ln w="38100">
            <a:solidFill>
              <a:srgbClr val="2B63A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62486" y="2756812"/>
            <a:ext cx="50642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変更後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62486" y="3061612"/>
            <a:ext cx="5064216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LLMは候補を出す役と、結果を説明する役だけを担う。物理に合わない候補は検証の段階で落ちるので、LLMが指示を守らなくても検知の性能には影響しない。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95808" y="6238255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E27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今後の予定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686" y="1541236"/>
          <a:ext cx="10555515" cy="2169772"/>
        </p:xfrm>
        <a:graphic>
          <a:graphicData uri="http://schemas.openxmlformats.org/drawingml/2006/table">
            <a:tbl>
              <a:tblPr/>
              <a:tblGrid>
                <a:gridCol w="844441"/>
                <a:gridCol w="4222206"/>
                <a:gridCol w="5488868"/>
              </a:tblGrid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順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やること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確認すること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</a:tr>
              <a:tr h="63307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反応器の冷却の式を1本作る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冷却水の異常（IDV4, 11, 14）を、従来手法（PCA）より早く・多く検出できるか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凝縮器の式を追加する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従来手法で検出が難しい弁の固着（IDV15）を検出できるか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予測モデルを作る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予測のずれを加えると検知性能が上がるか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定数の変化を追う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7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異常の場所や原因をどこまで特定できるか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990404"/>
            <a:ext cx="10883393" cy="30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E4A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まず1で「操作量を入れれば、制御下でも物理法則の式が成り立つ」ことを確かめる。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95808" y="6238249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s論文とTEPへの適用検討">
  <a:themeElements>
    <a:clrScheme name="PINNs論文とTEPへの適用検討">
      <a:dk1>
        <a:srgbClr val="3E4A59"/>
      </a:dk1>
      <a:lt1>
        <a:srgbClr val="F7F7F4"/>
      </a:lt1>
      <a:dk2>
        <a:srgbClr val="6C7580"/>
      </a:dk2>
      <a:lt2>
        <a:srgbClr val="E5E6E5"/>
      </a:lt2>
      <a:accent1>
        <a:srgbClr val="2B63A8"/>
      </a:accent1>
      <a:accent2>
        <a:srgbClr val="9DB8DA"/>
      </a:accent2>
      <a:accent3>
        <a:srgbClr val="A8551F"/>
      </a:accent3>
      <a:accent4>
        <a:srgbClr val="1E2733"/>
      </a:accent4>
      <a:accent5>
        <a:srgbClr val="6A7480"/>
      </a:accent5>
      <a:accent6>
        <a:srgbClr val="C9D1DB"/>
      </a:accent6>
      <a:hlink>
        <a:srgbClr val="0563C1"/>
      </a:hlink>
      <a:folHlink>
        <a:srgbClr val="954F72"/>
      </a:folHlink>
    </a:clrScheme>
    <a:fontScheme name="PINNs論文とTEPへの適用検討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PINNs論文とTEPへの適用検討</dc:title>
  <dc:subject/>
  <dc:creator/>
  <cp:lastModifiedBy/>
  <cp:revision>1</cp:revision>
  <dcterms:created xsi:type="dcterms:W3CDTF">2026-10-08T08:29:51Z</dcterms:created>
  <dcterms:modified xsi:type="dcterms:W3CDTF">2026-10-08T08:29:51Z</dcterms:modified>
</cp:coreProperties>
</file>