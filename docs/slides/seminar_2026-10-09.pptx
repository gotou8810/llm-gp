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6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6" Type="http://schemas.openxmlformats.org/officeDocument/2006/relationships/slide" Target="slides/slide8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回の報告範囲：PINNs導入版ガイドライン（CLAUDE.md）に沿った方針転換のうち、最初のspec『reactor-cw-energy-residual』（反応器冷却水のエネルギー収支残差）のDiscovery〜実装タスク2.2までの進捗を報告する。ファイル：.kiro/specs/reactor-cw-energy-residual/ 以下一式。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出典：.kiro/specs/reactor-cw-energy-residual/requirements.md（要件9件・33基準）、design.md（10コンポーネント）、tasks.md（6大タスク・16サブタスク）。タスク完了のコミット：8503746(1.1), 747c357(1.2), 997000f(1.3), 63272f6(2.1)。タスク2.2は実装済みだがレビューサブエージェントがAPIレート制限で中断しており、本報告時点では未承認。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出典：docs/dataset_spec.md。故障投入時刻サンプル21の実測根拠：IDV(6)・xmeas_1のzスコア（サンプル17-20はz=0.00、サンプル21でz=9.72、22でz=9.70、23でz=9.50）。evaluate_fdiの不具合はsrc/VerificationHarness.jlの既存コードで確認（research.md『既存Julia資産の残差式への適用可能性』）。このバグは今回新規作成したsrc/PhysicsResiduals/モジュールのFaultTimingコンポーネント（タスク1.2）で回避している（サンプル21を定数として使用、verify_injection_timing関数で実データに対して検証済み）。既存のVerificationHarness.jl自体は変更していない（Phase 1の成果物として保全）。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出典：.kiro/steering/roadmap.md §4（操作量が必須であることの定量的証拠）。この実測結果は要件定義（requirements.md Requirement 5）で分散変化型検知を必須要件とする根拠になった（AskUserQuestionで分散統計量の必須化をユーザーに確認・承認済み）。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出典：CLAUDE.md §4(b)、.kiro/specs/reactor-cw-energy-residual/design.md ResidualFormuladコンポーネント、requirements.md Requirement 1.6（比としてのみ同定可能であることの明記を要求）。変数統計量の出典：.kiro/steering/roadmap.md §3（ガイドライン§4(b)の変数検証）。実装：src/PhysicsResiduals/ReactorCwEnergyResidual.jl の LAMBDA_SIGN_CONSTRAINTS, LAMBDA_NON_IDENTIFIABILITY_NOTE, build_design_matrix（タスク1.3、commit 997000f）。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出典：.kiro/specs/reactor-cw-energy-residual/tasks.md のチェック状態、および git log。コミット：8503746(1.1) 747c357(1.2) 997000f(1.3) 63272f6(2.1)。各タスクはJulia実装→TDD（RED→GREEN）→独立レビューサブエージェント（APPROVED）→親コンテキストでのkiro-verify-completion（VERIFIED）→git commitの順で進めている。タスク2.2は実装・セルフテスト済みだが、独立レビューがAPIレート制限で中断し、本報告時点では未承認・未コミット。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出典：test/PhysicsResiduals/runtests.jl（425-438行目のコメント、identify_lambda実データ統合テスト）、git commit 63272f6（タスク2.1の実装・レビュー記録）。相関係数0.995、Tcw,outのstd=0.131という数値は実データ（TEP_FaultFree_Training.RData, run≤400, 約20万行）を用いて独立レビューサブエージェントが再現・確認済み（afd52854レビュー記録）。この不安定性は閉ループ制御の影響（CLAUDE.md §2で指摘されていた『PVだけでは外乱が見えない』問題の裏返し）であり、式自体やタスク2.1の実装のバグではない。対処方針はタスク2.2（λバリデータ：ブートストラップ信頼区間・holdout安定性検証）で評価中。タスク2.2は実装済みだが本報告時点ではレビュー未完了のため、結論は保留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出典：.kiro/specs/reactor-cw-energy-residual/tasks.md の未着手タスク一覧（3.1, 3.2, 4.1-4.3, 5.1, 6.1-6.4）、.kiro/steering/roadmap.md のspec依存順（reactor-cw-energy-residual → fdi-evaluation-foundation → ...）。項目1の対処方針は未定・未検討：run単位の変動を使う案（run間でTcw,outの平均が多少異なることを利用）や、残差式そのものの再検討（別の変数の組み合わせ）が候補だが、いずれも未評価の仮説。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1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000" dirty="0">
                <a:solidFill>
                  <a:srgbClr val="1E27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0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555750"/>
            <a:ext cx="10566400" cy="4489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3E4A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1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000" dirty="0">
                <a:solidFill>
                  <a:srgbClr val="1E27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0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555750"/>
            <a:ext cx="10566400" cy="4489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3E4A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901" y="1483156"/>
            <a:ext cx="108831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9DB8DA"/>
                </a:solidFill>
                <a:latin typeface="Noto Sans JP"/>
              </a:rPr>
              <a:t>ゼミ進捗報告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901" y="1986076"/>
            <a:ext cx="10883188" cy="1808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F4F5F2"/>
                </a:solidFill>
                <a:latin typeface="Noto Sans JP"/>
              </a:rPr>
              <a:t>反応器冷却水エネルギー収支残差モデルの</a:t>
            </a:r>
          </a:p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F4F5F2"/>
                </a:solidFill>
                <a:latin typeface="Noto Sans JP"/>
              </a:rPr>
              <a:t>実装進捗（タスク1.1〜2.2）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901" y="4303166"/>
            <a:ext cx="1088318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C9D1DB"/>
                </a:solidFill>
                <a:latin typeface="Noto Sans JP"/>
              </a:rPr>
              <a:t>対象spec：</a:t>
            </a:r>
            <a:r>
              <a:rPr sz="1400" b="0" i="0">
                <a:solidFill>
                  <a:srgbClr val="C9D1DB"/>
                </a:solidFill>
                <a:latin typeface="JetBrains Mono"/>
              </a:rPr>
              <a:t>reactor-cw-energy-residual</a:t>
            </a:r>
            <a:r>
              <a:rPr sz="1400" b="0" i="0">
                <a:solidFill>
                  <a:srgbClr val="C9D1DB"/>
                </a:solidFill>
                <a:latin typeface="Noto Sans JP"/>
              </a:rPr>
              <a:t>（Kiro spec-driven workflow）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901" y="5125212"/>
            <a:ext cx="108831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C9D1DB"/>
                </a:solidFill>
                <a:latin typeface="Noto Sans JP"/>
              </a:rPr>
              <a:t>2026-10-09　[氏名]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901" y="812901"/>
            <a:ext cx="10883188" cy="46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E2733"/>
                </a:solidFill>
                <a:latin typeface="Noto Sans JP"/>
              </a:rPr>
              <a:t>今回やったこと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5604" y="6238036"/>
            <a:ext cx="10883188" cy="2386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6A7480"/>
                </a:solidFill>
                <a:latin typeface="Noto Sans JP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901" y="1530705"/>
            <a:ext cx="10883188" cy="350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3E4A59"/>
                </a:solidFill>
                <a:latin typeface="Noto Sans JP"/>
              </a:rPr>
              <a:t>CLAUDE.mdの方針転換（装置ごとの物理収支残差によるFDI）に沿って、Kiroのspec駆動ワークフローで反応器冷却水の残差モデルの実装を進めた。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2901" y="2137867"/>
            <a:ext cx="3380536" cy="2007107"/>
          </a:xfrm>
          <a:prstGeom prst="roundRect">
            <a:avLst>
              <a:gd name="adj" fmla="val 3599"/>
            </a:avLst>
          </a:prstGeom>
          <a:solidFill>
            <a:srgbClr val="FDFDFB"/>
          </a:solidFill>
          <a:ln w="635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8019" y="2392070"/>
            <a:ext cx="2870301" cy="2843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2B63A8"/>
                </a:solidFill>
                <a:latin typeface="Noto Sans JP"/>
              </a:rPr>
              <a:t>Discovery〜設計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8019" y="2753258"/>
            <a:ext cx="2870301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3E4A59"/>
                </a:solidFill>
                <a:latin typeface="Noto Sans JP"/>
              </a:rPr>
              <a:t>要件定義（9項目・33基準）→技術設計→タスク計画（16サブタスク）の3フェーズを作成・承認した。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2836" y="2137867"/>
            <a:ext cx="3380536" cy="2007107"/>
          </a:xfrm>
          <a:prstGeom prst="roundRect">
            <a:avLst>
              <a:gd name="adj" fmla="val 3599"/>
            </a:avLst>
          </a:prstGeom>
          <a:solidFill>
            <a:srgbClr val="FDFDFB"/>
          </a:solidFill>
          <a:ln w="635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57953" y="2392070"/>
            <a:ext cx="2870301" cy="2843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2B63A8"/>
                </a:solidFill>
                <a:latin typeface="Noto Sans JP"/>
              </a:rPr>
              <a:t>実装（タスク1.1〜2.1）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57953" y="2753258"/>
            <a:ext cx="2870301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3E4A59"/>
                </a:solidFill>
                <a:latin typeface="Noto Sans JP"/>
              </a:rPr>
              <a:t>モジュール骨格、故障投入時刻、残差式、λ同定の4タスクが完了。独立レビューと検証を経てコミット済み。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92770" y="2137867"/>
            <a:ext cx="3380536" cy="2007107"/>
          </a:xfrm>
          <a:prstGeom prst="roundRect">
            <a:avLst>
              <a:gd name="adj" fmla="val 3599"/>
            </a:avLst>
          </a:prstGeom>
          <a:solidFill>
            <a:srgbClr val="FDFDFB"/>
          </a:solidFill>
          <a:ln w="635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47888" y="2392070"/>
            <a:ext cx="2870301" cy="2843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2B63A8"/>
                </a:solidFill>
                <a:latin typeface="Noto Sans JP"/>
              </a:rPr>
              <a:t>進行中（タスク2.2）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47888" y="2753258"/>
            <a:ext cx="2870301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3E4A59"/>
                </a:solidFill>
                <a:latin typeface="Noto Sans JP"/>
              </a:rPr>
              <a:t>λの不確かさ（ブートストラップ）とholdout安定性の検証機能を実装。本報告時点でレビュー待ち。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901" y="4427524"/>
            <a:ext cx="10883188" cy="566928"/>
          </a:xfrm>
          <a:prstGeom prst="rect">
            <a:avLst/>
          </a:prstGeom>
          <a:solidFill>
            <a:srgbClr val="EC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5781" y="4537252"/>
            <a:ext cx="1051742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3E4A59"/>
                </a:solidFill>
                <a:latin typeface="Noto Sans JP"/>
              </a:rPr>
              <a:t>実データで確認した重要な所見（p.7）：</a:t>
            </a:r>
            <a:r>
              <a:rPr sz="1400" b="1" i="0">
                <a:solidFill>
                  <a:srgbClr val="A8551F"/>
                </a:solidFill>
                <a:latin typeface="Noto Sans JP"/>
              </a:rPr>
              <a:t>λの同定が実データでは不安定になることが分かった。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901" y="812901"/>
            <a:ext cx="10883188" cy="46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E2733"/>
                </a:solidFill>
                <a:latin typeface="Noto Sans JP"/>
              </a:rPr>
              <a:t>データ仕様の確認結果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5604" y="6238036"/>
            <a:ext cx="10883188" cy="2386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6A7480"/>
                </a:solidFill>
                <a:latin typeface="Noto Sans JP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901" y="1505102"/>
            <a:ext cx="10883188" cy="3099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3E4A59"/>
                </a:solidFill>
                <a:latin typeface="Noto Sans JP"/>
              </a:rPr>
              <a:t>新しい残差モデルを実装する前に、TEPデータセットの版・構造・故障投入時刻を実測で確認した。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12901" y="1965960"/>
          <a:ext cx="10883188" cy="1920240"/>
        </p:xfrm>
        <a:graphic>
          <a:graphicData uri="http://schemas.openxmlformats.org/drawingml/2006/table">
            <a:tbl>
              <a:tblPr firstRow="0" bandRow="0"/>
              <a:tblGrid>
                <a:gridCol w="2560320"/>
                <a:gridCol w="8322868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E2733"/>
                          </a:solidFill>
                          <a:latin typeface="Noto Sans JP"/>
                        </a:rPr>
                        <a:t>項目</a:t>
                      </a:r>
                    </a:p>
                  </a:txBody>
                  <a:tcPr marL="73152" marR="73152" marT="36576" marB="36576"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E2733"/>
                          </a:solidFill>
                          <a:latin typeface="Noto Sans JP"/>
                        </a:rPr>
                        <a:t>確認結果</a:t>
                      </a:r>
                    </a:p>
                  </a:txBody>
                  <a:tcPr marL="73152" marR="73152" marT="36576" marB="36576" anchor="ctr">
                    <a:solidFill>
                      <a:srgbClr val="E4ECF6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2733"/>
                          </a:solidFill>
                          <a:latin typeface="Noto Sans JP"/>
                        </a:rPr>
                        <a:t>データ版</a:t>
                      </a:r>
                    </a:p>
                  </a:txBody>
                  <a:tcPr marL="73152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2733"/>
                          </a:solidFill>
                          <a:latin typeface="Noto Sans JP"/>
                        </a:rPr>
                        <a:t>Rieth et al. 2017（Harvard Dataverse版）</a:t>
                      </a:r>
                    </a:p>
                  </a:txBody>
                  <a:tcPr marL="73152" marR="73152" marT="36576" marB="36576" anchor="ctr">
                    <a:noFill/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2733"/>
                          </a:solidFill>
                          <a:latin typeface="Noto Sans JP"/>
                        </a:rPr>
                        <a:t>データ構造</a:t>
                      </a:r>
                    </a:p>
                  </a:txBody>
                  <a:tcPr marL="73152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2733"/>
                          </a:solidFill>
                          <a:latin typeface="Noto Sans JP"/>
                        </a:rPr>
                        <a:t>正常：500ラン×500サンプル（25万行）／異常：20故障×500ラン×500サンプル（500万行）</a:t>
                      </a:r>
                    </a:p>
                  </a:txBody>
                  <a:tcPr marL="73152" marR="73152" marT="36576" marB="36576" anchor="ctr">
                    <a:noFill/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2733"/>
                          </a:solidFill>
                          <a:latin typeface="Noto Sans JP"/>
                        </a:rPr>
                        <a:t>サンプリング間隔</a:t>
                      </a:r>
                    </a:p>
                  </a:txBody>
                  <a:tcPr marL="73152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2733"/>
                          </a:solidFill>
                          <a:latin typeface="Noto Sans JP"/>
                        </a:rPr>
                        <a:t>3分</a:t>
                      </a:r>
                    </a:p>
                  </a:txBody>
                  <a:tcPr marL="73152" marR="73152" marT="36576" marB="36576" anchor="ctr">
                    <a:noFill/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2733"/>
                          </a:solidFill>
                          <a:latin typeface="Noto Sans JP"/>
                        </a:rPr>
                        <a:t>故障投入時刻</a:t>
                      </a:r>
                    </a:p>
                  </a:txBody>
                  <a:tcPr marL="73152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2733"/>
                          </a:solidFill>
                          <a:latin typeface="Noto Sans JP"/>
                        </a:rPr>
                        <a:t>全IDV・全ランでサンプル21に固定（シミュレーション開始60分後）</a:t>
                      </a:r>
                    </a:p>
                  </a:txBody>
                  <a:tcPr marL="73152" marR="73152" marT="36576" marB="36576" anchor="ctr">
                    <a:noFill/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812901" y="4114800"/>
            <a:ext cx="10883188" cy="1417320"/>
          </a:xfrm>
          <a:prstGeom prst="rect">
            <a:avLst/>
          </a:prstGeom>
          <a:solidFill>
            <a:srgbClr val="EC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5781" y="4224528"/>
            <a:ext cx="10517428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 i="0">
                <a:solidFill>
                  <a:srgbClr val="3E4A59"/>
                </a:solidFill>
                <a:latin typeface="Noto Sans JP"/>
              </a:rPr>
              <a:t>既存コード（</a:t>
            </a:r>
            <a:r>
              <a:rPr sz="1300" b="0" i="0">
                <a:solidFill>
                  <a:srgbClr val="3E4A59"/>
                </a:solidFill>
                <a:latin typeface="JetBrains Mono"/>
              </a:rPr>
              <a:t>src/VerificationHarness.jl</a:t>
            </a:r>
            <a:r>
              <a:rPr sz="1400" b="0" i="0">
                <a:solidFill>
                  <a:srgbClr val="3E4A59"/>
                </a:solidFill>
                <a:latin typeface="Noto Sans JP"/>
              </a:rPr>
              <a:t>）の</a:t>
            </a:r>
            <a:r>
              <a:rPr sz="1300" b="0" i="0">
                <a:solidFill>
                  <a:srgbClr val="3E4A59"/>
                </a:solidFill>
                <a:latin typeface="JetBrains Mono"/>
              </a:rPr>
              <a:t>evaluate_fdi</a:t>
            </a:r>
            <a:r>
              <a:rPr sz="1400" b="0" i="0">
                <a:solidFill>
                  <a:srgbClr val="3E4A59"/>
                </a:solidFill>
                <a:latin typeface="Noto Sans JP"/>
              </a:rPr>
              <a:t>関数には不具合があることを確認した。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 i="0">
                <a:solidFill>
                  <a:srgbClr val="3E4A59"/>
                </a:solidFill>
                <a:latin typeface="JetBrains Mono"/>
              </a:rPr>
              <a:t>faultNumber</a:t>
            </a:r>
            <a:r>
              <a:rPr sz="1400" b="0" i="0">
                <a:solidFill>
                  <a:srgbClr val="3E4A59"/>
                </a:solidFill>
                <a:latin typeface="Noto Sans JP"/>
              </a:rPr>
              <a:t>列はラン全体に付与された定数ラベルであり、投入時刻そのものではない。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 i="0">
                <a:solidFill>
                  <a:srgbClr val="A8551F"/>
                </a:solidFill>
                <a:latin typeface="Noto Sans JP"/>
              </a:rPr>
              <a:t>→ </a:t>
            </a:r>
            <a:r>
              <a:rPr sz="1300" b="1" i="0">
                <a:solidFill>
                  <a:srgbClr val="A8551F"/>
                </a:solidFill>
                <a:latin typeface="JetBrains Mono"/>
              </a:rPr>
              <a:t>findfirst(v -&gt; v &gt; 0, fault_col)</a:t>
            </a:r>
            <a:r>
              <a:rPr sz="1400" b="1" i="0">
                <a:solidFill>
                  <a:srgbClr val="A8551F"/>
                </a:solidFill>
                <a:latin typeface="Noto Sans JP"/>
              </a:rPr>
              <a:t> は常にサンプル1を返す誤った実装であり、使ってはならない。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901" y="812901"/>
            <a:ext cx="10883188" cy="46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E2733"/>
                </a:solidFill>
                <a:latin typeface="Noto Sans JP"/>
              </a:rPr>
              <a:t>操作量が必要という実測証拠（IDV4）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5604" y="6238036"/>
            <a:ext cx="10883188" cy="2386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6A7480"/>
                </a:solidFill>
                <a:latin typeface="Noto Sans JP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901" y="1441094"/>
            <a:ext cx="108831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A7480"/>
                </a:solidFill>
                <a:latin typeface="Noto Sans JP"/>
              </a:rPr>
              <a:t>故障投入後（サンプル≥21）の平均が正常からどれだけ動くかを、正常時の標準偏差を単位（zスコア）として確認した。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901" y="1874519"/>
            <a:ext cx="5120640" cy="2542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E2733"/>
                </a:solidFill>
                <a:latin typeface="Noto Sans JP"/>
              </a:rPr>
              <a:t>平均シフト（zスコア、故障後の平均 − 正常時平均）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12901" y="2167128"/>
          <a:ext cx="5120640" cy="1463040"/>
        </p:xfrm>
        <a:graphic>
          <a:graphicData uri="http://schemas.openxmlformats.org/drawingml/2006/table">
            <a:tbl>
              <a:tblPr firstRow="0" bandRow="0"/>
              <a:tblGrid>
                <a:gridCol w="731520"/>
                <a:gridCol w="1554480"/>
                <a:gridCol w="1600200"/>
                <a:gridCol w="1234440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E2733"/>
                          </a:solidFill>
                          <a:latin typeface="Noto Sans JP"/>
                        </a:rPr>
                        <a:t>IDV</a:t>
                      </a:r>
                    </a:p>
                  </a:txBody>
                  <a:tcPr marL="73152" marR="73152" marT="36576" marB="36576"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E2733"/>
                          </a:solidFill>
                          <a:latin typeface="Noto Sans JP"/>
                        </a:rPr>
                        <a:t>xmeas_9（Tr）</a:t>
                      </a:r>
                    </a:p>
                  </a:txBody>
                  <a:tcPr marL="73152" marR="73152" marT="36576" marB="36576"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E2733"/>
                          </a:solidFill>
                          <a:latin typeface="Noto Sans JP"/>
                        </a:rPr>
                        <a:t>xmeas_21（Tcw,out）</a:t>
                      </a:r>
                    </a:p>
                  </a:txBody>
                  <a:tcPr marL="73152" marR="73152" marT="36576" marB="36576"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E2733"/>
                          </a:solidFill>
                          <a:latin typeface="Noto Sans JP"/>
                        </a:rPr>
                        <a:t>xmv_10（弁）</a:t>
                      </a:r>
                    </a:p>
                  </a:txBody>
                  <a:tcPr marL="73152" marR="73152" marT="36576" marB="36576" anchor="ctr">
                    <a:solidFill>
                      <a:srgbClr val="E4ECF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E2733"/>
                          </a:solidFill>
                          <a:latin typeface="Noto Sans JP"/>
                        </a:rPr>
                        <a:t>4</a:t>
                      </a:r>
                    </a:p>
                  </a:txBody>
                  <a:tcPr marL="73152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E2733"/>
                          </a:solidFill>
                          <a:latin typeface="JetBrains Mono"/>
                        </a:rPr>
                        <a:t>-0.00</a:t>
                      </a:r>
                    </a:p>
                  </a:txBody>
                  <a:tcPr marL="73152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E2733"/>
                          </a:solidFill>
                          <a:latin typeface="JetBrains Mono"/>
                        </a:rPr>
                        <a:t>-0.00</a:t>
                      </a:r>
                    </a:p>
                  </a:txBody>
                  <a:tcPr marL="73152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E2733"/>
                          </a:solidFill>
                          <a:latin typeface="JetBrains Mono"/>
                        </a:rPr>
                        <a:t>+6.97</a:t>
                      </a:r>
                    </a:p>
                  </a:txBody>
                  <a:tcPr marL="73152" marR="73152" marT="36576" marB="36576" anchor="ctr">
                    <a:noFill/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E2733"/>
                          </a:solidFill>
                          <a:latin typeface="Noto Sans JP"/>
                        </a:rPr>
                        <a:t>11</a:t>
                      </a:r>
                    </a:p>
                  </a:txBody>
                  <a:tcPr marL="73152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E2733"/>
                          </a:solidFill>
                          <a:latin typeface="JetBrains Mono"/>
                        </a:rPr>
                        <a:t>-0.00</a:t>
                      </a:r>
                    </a:p>
                  </a:txBody>
                  <a:tcPr marL="73152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E2733"/>
                          </a:solidFill>
                          <a:latin typeface="JetBrains Mono"/>
                        </a:rPr>
                        <a:t>-0.00</a:t>
                      </a:r>
                    </a:p>
                  </a:txBody>
                  <a:tcPr marL="73152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E2733"/>
                          </a:solidFill>
                          <a:latin typeface="JetBrains Mono"/>
                        </a:rPr>
                        <a:t>+0.54</a:t>
                      </a:r>
                    </a:p>
                  </a:txBody>
                  <a:tcPr marL="73152" marR="73152" marT="36576" marB="36576" anchor="ctr">
                    <a:noFill/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E2733"/>
                          </a:solidFill>
                          <a:latin typeface="Noto Sans JP"/>
                        </a:rPr>
                        <a:t>14</a:t>
                      </a:r>
                    </a:p>
                  </a:txBody>
                  <a:tcPr marL="73152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E2733"/>
                          </a:solidFill>
                          <a:latin typeface="JetBrains Mono"/>
                        </a:rPr>
                        <a:t>-0.00</a:t>
                      </a:r>
                    </a:p>
                  </a:txBody>
                  <a:tcPr marL="73152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E2733"/>
                          </a:solidFill>
                          <a:latin typeface="JetBrains Mono"/>
                        </a:rPr>
                        <a:t>+0.00</a:t>
                      </a:r>
                    </a:p>
                  </a:txBody>
                  <a:tcPr marL="73152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E2733"/>
                          </a:solidFill>
                          <a:latin typeface="JetBrains Mono"/>
                        </a:rPr>
                        <a:t>+0.11</a:t>
                      </a:r>
                    </a:p>
                  </a:txBody>
                  <a:tcPr marL="73152" marR="73152" marT="36576" marB="36576" anchor="ctr">
                    <a:noFill/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126480" y="1874519"/>
            <a:ext cx="5029200" cy="2542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E2733"/>
                </a:solidFill>
                <a:latin typeface="Noto Sans JP"/>
              </a:rPr>
              <a:t>ラン内標準偏差の比（故障時／正常時）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26480" y="2167128"/>
          <a:ext cx="5029200" cy="1463040"/>
        </p:xfrm>
        <a:graphic>
          <a:graphicData uri="http://schemas.openxmlformats.org/drawingml/2006/table">
            <a:tbl>
              <a:tblPr firstRow="0" bandRow="0"/>
              <a:tblGrid>
                <a:gridCol w="731520"/>
                <a:gridCol w="1463040"/>
                <a:gridCol w="1463040"/>
                <a:gridCol w="1371600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E2733"/>
                          </a:solidFill>
                          <a:latin typeface="Noto Sans JP"/>
                        </a:rPr>
                        <a:t>IDV</a:t>
                      </a:r>
                    </a:p>
                  </a:txBody>
                  <a:tcPr marL="73152" marR="73152" marT="36576" marB="36576"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E2733"/>
                          </a:solidFill>
                          <a:latin typeface="Noto Sans JP"/>
                        </a:rPr>
                        <a:t>xmeas_9</a:t>
                      </a:r>
                    </a:p>
                  </a:txBody>
                  <a:tcPr marL="73152" marR="73152" marT="36576" marB="36576"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E2733"/>
                          </a:solidFill>
                          <a:latin typeface="Noto Sans JP"/>
                        </a:rPr>
                        <a:t>xmeas_21</a:t>
                      </a:r>
                    </a:p>
                  </a:txBody>
                  <a:tcPr marL="73152" marR="73152" marT="36576" marB="36576"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E2733"/>
                          </a:solidFill>
                          <a:latin typeface="Noto Sans JP"/>
                        </a:rPr>
                        <a:t>xmv_10</a:t>
                      </a:r>
                    </a:p>
                  </a:txBody>
                  <a:tcPr marL="73152" marR="73152" marT="36576" marB="36576" anchor="ctr">
                    <a:solidFill>
                      <a:srgbClr val="E4ECF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E2733"/>
                          </a:solidFill>
                          <a:latin typeface="Noto Sans JP"/>
                        </a:rPr>
                        <a:t>4</a:t>
                      </a:r>
                    </a:p>
                  </a:txBody>
                  <a:tcPr marL="73152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E2733"/>
                          </a:solidFill>
                          <a:latin typeface="JetBrains Mono"/>
                        </a:rPr>
                        <a:t>1.04x</a:t>
                      </a:r>
                    </a:p>
                  </a:txBody>
                  <a:tcPr marL="73152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E2733"/>
                          </a:solidFill>
                          <a:latin typeface="JetBrains Mono"/>
                        </a:rPr>
                        <a:t>0.94x</a:t>
                      </a:r>
                    </a:p>
                  </a:txBody>
                  <a:tcPr marL="73152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E2733"/>
                          </a:solidFill>
                          <a:latin typeface="JetBrains Mono"/>
                        </a:rPr>
                        <a:t>0.96x</a:t>
                      </a:r>
                    </a:p>
                  </a:txBody>
                  <a:tcPr marL="73152" marR="73152" marT="36576" marB="36576" anchor="ctr">
                    <a:noFill/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E2733"/>
                          </a:solidFill>
                          <a:latin typeface="Noto Sans JP"/>
                        </a:rPr>
                        <a:t>11</a:t>
                      </a:r>
                    </a:p>
                  </a:txBody>
                  <a:tcPr marL="73152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E2733"/>
                          </a:solidFill>
                          <a:latin typeface="JetBrains Mono"/>
                        </a:rPr>
                        <a:t>4.31x</a:t>
                      </a:r>
                    </a:p>
                  </a:txBody>
                  <a:tcPr marL="73152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E2733"/>
                          </a:solidFill>
                          <a:latin typeface="JetBrains Mono"/>
                        </a:rPr>
                        <a:t>1.14x</a:t>
                      </a:r>
                    </a:p>
                  </a:txBody>
                  <a:tcPr marL="73152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E2733"/>
                          </a:solidFill>
                          <a:latin typeface="JetBrains Mono"/>
                        </a:rPr>
                        <a:t>6.48x</a:t>
                      </a:r>
                    </a:p>
                  </a:txBody>
                  <a:tcPr marL="73152" marR="73152" marT="36576" marB="36576" anchor="ctr">
                    <a:noFill/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E2733"/>
                          </a:solidFill>
                          <a:latin typeface="Noto Sans JP"/>
                        </a:rPr>
                        <a:t>14</a:t>
                      </a:r>
                    </a:p>
                  </a:txBody>
                  <a:tcPr marL="73152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E2733"/>
                          </a:solidFill>
                          <a:latin typeface="JetBrains Mono"/>
                        </a:rPr>
                        <a:t>13.43x</a:t>
                      </a:r>
                    </a:p>
                  </a:txBody>
                  <a:tcPr marL="73152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E2733"/>
                          </a:solidFill>
                          <a:latin typeface="JetBrains Mono"/>
                        </a:rPr>
                        <a:t>10.59x</a:t>
                      </a:r>
                    </a:p>
                  </a:txBody>
                  <a:tcPr marL="73152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E2733"/>
                          </a:solidFill>
                          <a:latin typeface="JetBrains Mono"/>
                        </a:rPr>
                        <a:t>13.77x</a:t>
                      </a:r>
                    </a:p>
                  </a:txBody>
                  <a:tcPr marL="73152" marR="73152" marT="36576" marB="36576" anchor="ctr">
                    <a:noFill/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812901" y="3931920"/>
            <a:ext cx="10883188" cy="914400"/>
          </a:xfrm>
          <a:prstGeom prst="rect">
            <a:avLst/>
          </a:prstGeom>
          <a:solidFill>
            <a:srgbClr val="EC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5781" y="4041648"/>
            <a:ext cx="1051742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00" b="1" i="0">
                <a:solidFill>
                  <a:srgbClr val="2B63A8"/>
                </a:solidFill>
                <a:latin typeface="Noto Sans JP"/>
              </a:rPr>
              <a:t>→ IDV(4)ではPV（Tr, Tcw,out）が完全に不動のまま、操作量だけが約7σ動く。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00" b="0" i="0">
                <a:solidFill>
                  <a:srgbClr val="3E4A59"/>
                </a:solidFill>
                <a:latin typeface="Noto Sans JP"/>
              </a:rPr>
              <a:t>PVだけで書いた式ではIDV(4)を原理的に検知できない。IDV(11)/(14)は平均ではなく分散に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00" b="0" i="0">
                <a:solidFill>
                  <a:srgbClr val="3E4A59"/>
                </a:solidFill>
                <a:latin typeface="Noto Sans JP"/>
              </a:rPr>
              <a:t>シグネチャがあるため、検知には平均シフト用と分散変化用の2つの統計量が必要（未実装・次項参照）。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901" y="812901"/>
            <a:ext cx="10883188" cy="46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E2733"/>
                </a:solidFill>
                <a:latin typeface="Noto Sans JP"/>
              </a:rPr>
              <a:t>残差式とλの同定可能性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5604" y="6238036"/>
            <a:ext cx="10883188" cy="2386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6A7480"/>
                </a:solidFill>
                <a:latin typeface="Noto Sans JP"/>
              </a:rPr>
              <a:t>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2901" y="1505102"/>
            <a:ext cx="10883188" cy="713232"/>
          </a:xfrm>
          <a:prstGeom prst="roundRect">
            <a:avLst>
              <a:gd name="adj" fmla="val 3599"/>
            </a:avLst>
          </a:prstGeom>
          <a:solidFill>
            <a:srgbClr val="E4ECF6"/>
          </a:solidFill>
          <a:ln w="6350">
            <a:solidFill>
              <a:srgbClr val="B9C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" y="1505102"/>
            <a:ext cx="10425988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 i="0">
                <a:solidFill>
                  <a:srgbClr val="1E2733"/>
                </a:solidFill>
                <a:latin typeface="JetBrains Mono"/>
              </a:rPr>
              <a:t>k · u10 · (Tcw,out − Tcw,in) − UA · (Tr − Tcw,out) ≈ 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2901" y="2340864"/>
            <a:ext cx="108831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E2733"/>
                </a:solidFill>
                <a:latin typeface="Noto Sans JP"/>
              </a:rPr>
              <a:t>変数の対応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12901" y="2633472"/>
          <a:ext cx="10883188" cy="1371600"/>
        </p:xfrm>
        <a:graphic>
          <a:graphicData uri="http://schemas.openxmlformats.org/drawingml/2006/table">
            <a:tbl>
              <a:tblPr firstRow="0" bandRow="0"/>
              <a:tblGrid>
                <a:gridCol w="3931920"/>
                <a:gridCol w="2377440"/>
                <a:gridCol w="4573828"/>
              </a:tblGrid>
              <a:tr h="3429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E2733"/>
                          </a:solidFill>
                          <a:latin typeface="Noto Sans JP"/>
                        </a:rPr>
                        <a:t>式の量</a:t>
                      </a:r>
                    </a:p>
                  </a:txBody>
                  <a:tcPr marL="73152" marR="73152" marT="36576" marB="36576"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E2733"/>
                          </a:solidFill>
                          <a:latin typeface="Noto Sans JP"/>
                        </a:rPr>
                        <a:t>TEPの変数</a:t>
                      </a:r>
                    </a:p>
                  </a:txBody>
                  <a:tcPr marL="73152" marR="73152" marT="36576" marB="36576"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E2733"/>
                          </a:solidFill>
                          <a:latin typeface="Noto Sans JP"/>
                        </a:rPr>
                        <a:t>正常時の統計量</a:t>
                      </a:r>
                    </a:p>
                  </a:txBody>
                  <a:tcPr marL="73152" marR="73152" marT="36576" marB="36576" anchor="ctr">
                    <a:solidFill>
                      <a:srgbClr val="E4ECF6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E2733"/>
                          </a:solidFill>
                          <a:latin typeface="Noto Sans JP"/>
                        </a:rPr>
                        <a:t>Tr（反応器温度）</a:t>
                      </a:r>
                    </a:p>
                  </a:txBody>
                  <a:tcPr marL="73152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E2733"/>
                          </a:solidFill>
                          <a:latin typeface="JetBrains Mono"/>
                        </a:rPr>
                        <a:t>XMEAS(9)</a:t>
                      </a:r>
                    </a:p>
                  </a:txBody>
                  <a:tcPr marL="73152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E2733"/>
                          </a:solidFill>
                          <a:latin typeface="Noto Sans JP"/>
                        </a:rPr>
                        <a:t>mean 120.400, std 0.019 [°C]</a:t>
                      </a:r>
                    </a:p>
                  </a:txBody>
                  <a:tcPr marL="73152" marR="73152" marT="36576" marB="36576" anchor="ctr">
                    <a:noFill/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E2733"/>
                          </a:solidFill>
                          <a:latin typeface="Noto Sans JP"/>
                        </a:rPr>
                        <a:t>Tcw,out（冷却水出口温度）</a:t>
                      </a:r>
                    </a:p>
                  </a:txBody>
                  <a:tcPr marL="73152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E2733"/>
                          </a:solidFill>
                          <a:latin typeface="JetBrains Mono"/>
                        </a:rPr>
                        <a:t>XMEAS(21)</a:t>
                      </a:r>
                    </a:p>
                  </a:txBody>
                  <a:tcPr marL="73152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E2733"/>
                          </a:solidFill>
                          <a:latin typeface="Noto Sans JP"/>
                        </a:rPr>
                        <a:t>mean 94.600, std 0.131 [°C]</a:t>
                      </a:r>
                    </a:p>
                  </a:txBody>
                  <a:tcPr marL="73152" marR="73152" marT="36576" marB="36576" anchor="ctr">
                    <a:noFill/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E2733"/>
                          </a:solidFill>
                          <a:latin typeface="Noto Sans JP"/>
                        </a:rPr>
                        <a:t>u10（冷却水弁開度）</a:t>
                      </a:r>
                    </a:p>
                  </a:txBody>
                  <a:tcPr marL="73152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E2733"/>
                          </a:solidFill>
                          <a:latin typeface="JetBrains Mono"/>
                        </a:rPr>
                        <a:t>XMV(10)</a:t>
                      </a:r>
                    </a:p>
                  </a:txBody>
                  <a:tcPr marL="73152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E2733"/>
                          </a:solidFill>
                          <a:latin typeface="Noto Sans JP"/>
                        </a:rPr>
                        <a:t>mean 41.104, std 0.541 [%]</a:t>
                      </a:r>
                    </a:p>
                  </a:txBody>
                  <a:tcPr marL="73152" marR="73152" marT="36576" marB="36576" anchor="ctr">
                    <a:noFill/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812901" y="4169663"/>
            <a:ext cx="10883188" cy="1600200"/>
          </a:xfrm>
          <a:prstGeom prst="rect">
            <a:avLst/>
          </a:prstGeom>
          <a:solidFill>
            <a:srgbClr val="EC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1501" y="4279392"/>
            <a:ext cx="10425988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3E4A59"/>
                </a:solidFill>
                <a:latin typeface="Noto Sans JP"/>
              </a:rPr>
              <a:t>線形な形に書き直すと </a:t>
            </a:r>
            <a:r>
              <a:rPr sz="1350" b="1" i="0">
                <a:solidFill>
                  <a:srgbClr val="1E2733"/>
                </a:solidFill>
                <a:latin typeface="JetBrains Mono"/>
              </a:rPr>
              <a:t>y = a·x1 + b·x2</a:t>
            </a:r>
            <a:r>
              <a:rPr sz="1400" b="0" i="0">
                <a:solidFill>
                  <a:srgbClr val="3E4A59"/>
                </a:solidFill>
                <a:latin typeface="Noto Sans JP"/>
              </a:rPr>
              <a:t>（y=Tr−Tcw,out, x1=u10·Tcw,out, x2=u10）。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1" i="0">
                <a:solidFill>
                  <a:srgbClr val="2B63A8"/>
                </a:solidFill>
                <a:latin typeface="JetBrains Mono"/>
              </a:rPr>
              <a:t>a = k/UA</a:t>
            </a:r>
            <a:r>
              <a:rPr sz="1400" b="1" i="0">
                <a:solidFill>
                  <a:srgbClr val="2B63A8"/>
                </a:solidFill>
                <a:latin typeface="Noto Sans JP"/>
              </a:rPr>
              <a:t> は比としてのみ同定可能（kとUAは個別には決まらない）。期待される符号：a&gt;0, b&lt;0。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 i="0">
                <a:solidFill>
                  <a:srgbClr val="3E4A59"/>
                </a:solidFill>
                <a:latin typeface="JetBrains Mono"/>
              </a:rPr>
              <a:t>b = −a·Tcw,in</a:t>
            </a:r>
            <a:r>
              <a:rPr sz="1400" b="0" i="0">
                <a:solidFill>
                  <a:srgbClr val="3E4A59"/>
                </a:solidFill>
                <a:latin typeface="Noto Sans JP"/>
              </a:rPr>
              <a:t> から </a:t>
            </a:r>
            <a:r>
              <a:rPr sz="1350" b="0" i="0">
                <a:solidFill>
                  <a:srgbClr val="3E4A59"/>
                </a:solidFill>
                <a:latin typeface="JetBrains Mono"/>
              </a:rPr>
              <a:t>Tcw,in = −b/a</a:t>
            </a:r>
            <a:r>
              <a:rPr sz="1400" b="0" i="0">
                <a:solidFill>
                  <a:srgbClr val="3E4A59"/>
                </a:solidFill>
                <a:latin typeface="Noto Sans JP"/>
              </a:rPr>
              <a:t>（非測定の冷却水入口温度）を導出できる。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6A7480"/>
                </a:solidFill>
                <a:latin typeface="Noto Sans JP"/>
              </a:rPr>
              <a:t>Tr − Tcw,out = +25.8°C &gt; 0（熱は反応器から冷却水へ流れる）。UA項の符号は物理的に正しい。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901" y="812901"/>
            <a:ext cx="10883188" cy="46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E2733"/>
                </a:solidFill>
                <a:latin typeface="Noto Sans JP"/>
              </a:rPr>
              <a:t>実装の進捗（タスク一覧）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5604" y="6238036"/>
            <a:ext cx="10883188" cy="2386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6A7480"/>
                </a:solidFill>
                <a:latin typeface="Noto Sans JP"/>
              </a:rPr>
              <a:t>6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12901" y="1536192"/>
          <a:ext cx="10883188" cy="2834636"/>
        </p:xfrm>
        <a:graphic>
          <a:graphicData uri="http://schemas.openxmlformats.org/drawingml/2006/table">
            <a:tbl>
              <a:tblPr firstRow="0" bandRow="0"/>
              <a:tblGrid>
                <a:gridCol w="1371600"/>
                <a:gridCol w="7225588"/>
                <a:gridCol w="2286000"/>
              </a:tblGrid>
              <a:tr h="404948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E2733"/>
                          </a:solidFill>
                          <a:latin typeface="Noto Sans JP"/>
                        </a:rPr>
                        <a:t>タスク</a:t>
                      </a:r>
                    </a:p>
                  </a:txBody>
                  <a:tcPr marL="73152" marR="73152" marT="36576" marB="36576"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E2733"/>
                          </a:solidFill>
                          <a:latin typeface="Noto Sans JP"/>
                        </a:rPr>
                        <a:t>内容</a:t>
                      </a:r>
                    </a:p>
                  </a:txBody>
                  <a:tcPr marL="73152" marR="73152" marT="36576" marB="36576"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E2733"/>
                          </a:solidFill>
                          <a:latin typeface="Noto Sans JP"/>
                        </a:rPr>
                        <a:t>状態</a:t>
                      </a:r>
                    </a:p>
                  </a:txBody>
                  <a:tcPr marL="73152" marR="73152" marT="36576" marB="36576" anchor="ctr">
                    <a:solidFill>
                      <a:srgbClr val="E4ECF6"/>
                    </a:solidFill>
                  </a:tcPr>
                </a:tc>
              </a:tr>
              <a:tr h="40494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2733"/>
                          </a:solidFill>
                          <a:latin typeface="JetBrains Mono"/>
                        </a:rPr>
                        <a:t>1.1</a:t>
                      </a:r>
                    </a:p>
                  </a:txBody>
                  <a:tcPr marL="73152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2733"/>
                          </a:solidFill>
                          <a:latin typeface="Noto Sans JP"/>
                        </a:rPr>
                        <a:t>モジュール骨格・データ仕様文書</a:t>
                      </a:r>
                    </a:p>
                  </a:txBody>
                  <a:tcPr marL="73152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2733"/>
                          </a:solidFill>
                          <a:latin typeface="Noto Sans JP"/>
                        </a:rPr>
                        <a:t>完了</a:t>
                      </a:r>
                    </a:p>
                  </a:txBody>
                  <a:tcPr marL="73152" marR="73152" marT="36576" marB="36576" anchor="ctr">
                    <a:noFill/>
                  </a:tcPr>
                </a:tc>
              </a:tr>
              <a:tr h="40494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2733"/>
                          </a:solidFill>
                          <a:latin typeface="JetBrains Mono"/>
                        </a:rPr>
                        <a:t>1.2</a:t>
                      </a:r>
                    </a:p>
                  </a:txBody>
                  <a:tcPr marL="73152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2733"/>
                          </a:solidFill>
                          <a:latin typeface="Noto Sans JP"/>
                        </a:rPr>
                        <a:t>故障投入時刻・ラン境界ユーティリティ</a:t>
                      </a:r>
                    </a:p>
                  </a:txBody>
                  <a:tcPr marL="73152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2733"/>
                          </a:solidFill>
                          <a:latin typeface="Noto Sans JP"/>
                        </a:rPr>
                        <a:t>完了</a:t>
                      </a:r>
                    </a:p>
                  </a:txBody>
                  <a:tcPr marL="73152" marR="73152" marT="36576" marB="36576" anchor="ctr">
                    <a:noFill/>
                  </a:tcPr>
                </a:tc>
              </a:tr>
              <a:tr h="40494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2733"/>
                          </a:solidFill>
                          <a:latin typeface="JetBrains Mono"/>
                        </a:rPr>
                        <a:t>1.3</a:t>
                      </a:r>
                    </a:p>
                  </a:txBody>
                  <a:tcPr marL="73152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2733"/>
                          </a:solidFill>
                          <a:latin typeface="Noto Sans JP"/>
                        </a:rPr>
                        <a:t>残差式とλ制約の定義</a:t>
                      </a:r>
                    </a:p>
                  </a:txBody>
                  <a:tcPr marL="73152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2733"/>
                          </a:solidFill>
                          <a:latin typeface="Noto Sans JP"/>
                        </a:rPr>
                        <a:t>完了</a:t>
                      </a:r>
                    </a:p>
                  </a:txBody>
                  <a:tcPr marL="73152" marR="73152" marT="36576" marB="36576" anchor="ctr">
                    <a:noFill/>
                  </a:tcPr>
                </a:tc>
              </a:tr>
              <a:tr h="40494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2733"/>
                          </a:solidFill>
                          <a:latin typeface="JetBrains Mono"/>
                        </a:rPr>
                        <a:t>2.1</a:t>
                      </a:r>
                    </a:p>
                  </a:txBody>
                  <a:tcPr marL="73152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2733"/>
                          </a:solidFill>
                          <a:latin typeface="Noto Sans JP"/>
                        </a:rPr>
                        <a:t>正常データ分割とλ同定</a:t>
                      </a:r>
                    </a:p>
                  </a:txBody>
                  <a:tcPr marL="73152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2733"/>
                          </a:solidFill>
                          <a:latin typeface="Noto Sans JP"/>
                        </a:rPr>
                        <a:t>完了</a:t>
                      </a:r>
                    </a:p>
                  </a:txBody>
                  <a:tcPr marL="73152" marR="73152" marT="36576" marB="36576" anchor="ctr">
                    <a:noFill/>
                  </a:tcPr>
                </a:tc>
              </a:tr>
              <a:tr h="40494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2733"/>
                          </a:solidFill>
                          <a:latin typeface="JetBrains Mono"/>
                        </a:rPr>
                        <a:t>2.2</a:t>
                      </a:r>
                    </a:p>
                  </a:txBody>
                  <a:tcPr marL="73152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2733"/>
                          </a:solidFill>
                          <a:latin typeface="Noto Sans JP"/>
                        </a:rPr>
                        <a:t>λの不確かさ・holdout安定性検証</a:t>
                      </a:r>
                    </a:p>
                  </a:txBody>
                  <a:tcPr marL="73152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2733"/>
                          </a:solidFill>
                          <a:latin typeface="Noto Sans JP"/>
                        </a:rPr>
                        <a:t>実装済み・レビュー待ち</a:t>
                      </a:r>
                    </a:p>
                  </a:txBody>
                  <a:tcPr marL="73152" marR="73152" marT="36576" marB="36576" anchor="ctr">
                    <a:noFill/>
                  </a:tcPr>
                </a:tc>
              </a:tr>
              <a:tr h="40494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2733"/>
                          </a:solidFill>
                          <a:latin typeface="JetBrains Mono"/>
                        </a:rPr>
                        <a:t>3.x〜6.x</a:t>
                      </a:r>
                    </a:p>
                  </a:txBody>
                  <a:tcPr marL="73152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2733"/>
                          </a:solidFill>
                          <a:latin typeface="Noto Sans JP"/>
                        </a:rPr>
                        <a:t>検知統計量、操作量ablation、評価統合、テスト（計10サブタスク）</a:t>
                      </a:r>
                    </a:p>
                  </a:txBody>
                  <a:tcPr marL="73152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2733"/>
                          </a:solidFill>
                          <a:latin typeface="Noto Sans JP"/>
                        </a:rPr>
                        <a:t>未着手</a:t>
                      </a:r>
                    </a:p>
                  </a:txBody>
                  <a:tcPr marL="73152" marR="73152" marT="36576" marB="36576" anchor="ctr">
                    <a:noFill/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812901" y="4572000"/>
            <a:ext cx="10883188" cy="868680"/>
          </a:xfrm>
          <a:prstGeom prst="rect">
            <a:avLst/>
          </a:prstGeom>
          <a:solidFill>
            <a:srgbClr val="EC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5781" y="4700016"/>
            <a:ext cx="105174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00" b="0" i="0">
                <a:solidFill>
                  <a:srgbClr val="3E4A59"/>
                </a:solidFill>
                <a:latin typeface="Noto Sans JP"/>
              </a:rPr>
              <a:t>完了タスク（1.1〜2.1）はすべて独立レビュー（kiro-review）とkiro-verify-completionによる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00" b="0" i="0">
                <a:solidFill>
                  <a:srgbClr val="3E4A59"/>
                </a:solidFill>
                <a:latin typeface="Noto Sans JP"/>
              </a:rPr>
              <a:t>再実行検証を経てコミット済み。既存モジュール（VerificationHarness.jl等）は変更していない。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901" y="812901"/>
            <a:ext cx="10883188" cy="46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E2733"/>
                </a:solidFill>
                <a:latin typeface="Noto Sans JP"/>
              </a:rPr>
              <a:t>重要な所見：実データでのλ同定の不安定性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5604" y="6238036"/>
            <a:ext cx="10883188" cy="2386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6A7480"/>
                </a:solidFill>
                <a:latin typeface="Noto Sans JP"/>
              </a:rP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901" y="1505102"/>
            <a:ext cx="1088318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E2733"/>
                </a:solidFill>
                <a:latin typeface="Noto Sans JP"/>
              </a:rPr>
              <a:t>正常データの同定用分割（run≤400、約20万行）で実際にλを同定したところ、想定どおりには同定できなかった【未解決の課題】。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2901" y="2057400"/>
            <a:ext cx="10883188" cy="1920240"/>
          </a:xfrm>
          <a:prstGeom prst="roundRect">
            <a:avLst>
              <a:gd name="adj" fmla="val 3599"/>
            </a:avLst>
          </a:prstGeom>
          <a:solidFill>
            <a:srgbClr val="FBF2EC"/>
          </a:solidFill>
          <a:ln w="6350">
            <a:solidFill>
              <a:srgbClr val="E8C9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7221" y="2240280"/>
            <a:ext cx="10334548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1" i="0">
                <a:solidFill>
                  <a:srgbClr val="A8551F"/>
                </a:solidFill>
                <a:latin typeface="JetBrains Mono"/>
              </a:rPr>
              <a:t>x1 = u10·Tcw,out</a:t>
            </a:r>
            <a:r>
              <a:rPr sz="1400" b="0" i="0">
                <a:solidFill>
                  <a:srgbClr val="3E4A59"/>
                </a:solidFill>
                <a:latin typeface="Noto Sans JP"/>
              </a:rPr>
              <a:t> と </a:t>
            </a:r>
            <a:r>
              <a:rPr sz="1400" b="1" i="0">
                <a:solidFill>
                  <a:srgbClr val="A8551F"/>
                </a:solidFill>
                <a:latin typeface="JetBrains Mono"/>
              </a:rPr>
              <a:t>x2 = u10</a:t>
            </a:r>
            <a:r>
              <a:rPr sz="1400" b="0" i="0">
                <a:solidFill>
                  <a:srgbClr val="3E4A59"/>
                </a:solidFill>
                <a:latin typeface="Noto Sans JP"/>
              </a:rPr>
              <a:t> の相関係数が </a:t>
            </a:r>
            <a:r>
              <a:rPr sz="1400" b="1" i="0">
                <a:solidFill>
                  <a:srgbClr val="A8551F"/>
                </a:solidFill>
                <a:latin typeface="JetBrains Mono"/>
              </a:rPr>
              <a:t>0.995</a:t>
            </a:r>
            <a:r>
              <a:rPr sz="1400" b="1" i="0">
                <a:solidFill>
                  <a:srgbClr val="A8551F"/>
                </a:solidFill>
                <a:latin typeface="Noto Sans JP"/>
              </a:rPr>
              <a:t> に達する（多重共線性）。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0" i="0">
                <a:solidFill>
                  <a:srgbClr val="3E4A59"/>
                </a:solidFill>
                <a:latin typeface="Noto Sans JP"/>
              </a:rPr>
              <a:t>Tcw,out（XMEAS(21)）の標準偏差がわずか0.131で、閉ループ制御下ではほとんど変動しないことが原因。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0" i="0">
                <a:solidFill>
                  <a:srgbClr val="3E4A59"/>
                </a:solidFill>
                <a:latin typeface="Noto Sans JP"/>
              </a:rPr>
              <a:t>→ 最小二乗法の符号が反転した（bが正、aがほぼ0）。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1" i="0">
                <a:solidFill>
                  <a:srgbClr val="2B63A8"/>
                </a:solidFill>
                <a:latin typeface="Noto Sans JP"/>
              </a:rPr>
              <a:t>→ check_physical_plausibility関数は、これを正しく「無効」と判定した。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901" y="4187952"/>
            <a:ext cx="1088318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A7480"/>
                </a:solidFill>
                <a:latin typeface="Noto Sans JP"/>
              </a:rPr>
              <a:t>これはタスク2.1の実装の不備ではなく、実データの性質（強い多重共線性）を正しく検出できたことを示す。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812901" y="4754880"/>
            <a:ext cx="10883188" cy="685800"/>
          </a:xfrm>
          <a:prstGeom prst="rect">
            <a:avLst/>
          </a:prstGeom>
          <a:solidFill>
            <a:srgbClr val="EC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5781" y="4864608"/>
            <a:ext cx="1051742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1E2733"/>
                </a:solidFill>
                <a:latin typeface="Noto Sans JP"/>
              </a:rPr>
              <a:t>未解決の課題：</a:t>
            </a:r>
            <a:r>
              <a:rPr sz="1400" b="0" i="0">
                <a:solidFill>
                  <a:srgbClr val="3E4A59"/>
                </a:solidFill>
                <a:latin typeface="Noto Sans JP"/>
              </a:rPr>
              <a:t>λをどう安定して同定するか（タスク2.2のブートストラップ・holdout検証で評価中、未検証）。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901" y="812901"/>
            <a:ext cx="10883188" cy="46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E2733"/>
                </a:solidFill>
                <a:latin typeface="Noto Sans JP"/>
              </a:rPr>
              <a:t>今後の予定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5604" y="6238036"/>
            <a:ext cx="10883188" cy="2386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6A7480"/>
                </a:solidFill>
                <a:latin typeface="Noto Sans JP"/>
              </a:rPr>
              <a:t>8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12901" y="1541678"/>
          <a:ext cx="10883188" cy="2377440"/>
        </p:xfrm>
        <a:graphic>
          <a:graphicData uri="http://schemas.openxmlformats.org/drawingml/2006/table">
            <a:tbl>
              <a:tblPr firstRow="0" bandRow="0"/>
              <a:tblGrid>
                <a:gridCol w="640080"/>
                <a:gridCol w="6858000"/>
                <a:gridCol w="3385108"/>
              </a:tblGrid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E2733"/>
                          </a:solidFill>
                          <a:latin typeface="Noto Sans JP"/>
                        </a:rPr>
                        <a:t>順</a:t>
                      </a:r>
                    </a:p>
                  </a:txBody>
                  <a:tcPr marL="73152" marR="73152" marT="36576" marB="36576"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E2733"/>
                          </a:solidFill>
                          <a:latin typeface="Noto Sans JP"/>
                        </a:rPr>
                        <a:t>やること</a:t>
                      </a:r>
                    </a:p>
                  </a:txBody>
                  <a:tcPr marL="73152" marR="73152" marT="36576" marB="36576"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E2733"/>
                          </a:solidFill>
                          <a:latin typeface="Noto Sans JP"/>
                        </a:rPr>
                        <a:t>確認すること</a:t>
                      </a:r>
                    </a:p>
                  </a:txBody>
                  <a:tcPr marL="73152" marR="73152" marT="36576" marB="36576" anchor="ctr">
                    <a:solidFill>
                      <a:srgbClr val="E4ECF6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2733"/>
                          </a:solidFill>
                          <a:latin typeface="Noto Sans JP"/>
                        </a:rPr>
                        <a:t>1</a:t>
                      </a:r>
                    </a:p>
                  </a:txBody>
                  <a:tcPr marL="73152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2733"/>
                          </a:solidFill>
                          <a:latin typeface="Noto Sans JP"/>
                        </a:rPr>
                        <a:t>多重共線性への対処方針を検討（未定：run間変動の活用、式の見直し等）</a:t>
                      </a:r>
                    </a:p>
                  </a:txBody>
                  <a:tcPr marL="73152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2733"/>
                          </a:solidFill>
                          <a:latin typeface="Noto Sans JP"/>
                        </a:rPr>
                        <a:t>λが安定して同定できるか</a:t>
                      </a:r>
                    </a:p>
                  </a:txBody>
                  <a:tcPr marL="73152" marR="73152" marT="36576" marB="36576" anchor="ctr">
                    <a:noFill/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2733"/>
                          </a:solidFill>
                          <a:latin typeface="Noto Sans JP"/>
                        </a:rPr>
                        <a:t>2</a:t>
                      </a:r>
                    </a:p>
                  </a:txBody>
                  <a:tcPr marL="73152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2733"/>
                          </a:solidFill>
                          <a:latin typeface="Noto Sans JP"/>
                        </a:rPr>
                        <a:t>平均シフト型・分散変化型の検知統計量を実装（タスク3.1/3.2）</a:t>
                      </a:r>
                    </a:p>
                  </a:txBody>
                  <a:tcPr marL="73152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2733"/>
                          </a:solidFill>
                          <a:latin typeface="Noto Sans JP"/>
                        </a:rPr>
                        <a:t>IDV(4)とIDV(11)/(14)を正しく検知できるか</a:t>
                      </a:r>
                    </a:p>
                  </a:txBody>
                  <a:tcPr marL="73152" marR="73152" marT="36576" marB="36576" anchor="ctr">
                    <a:noFill/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2733"/>
                          </a:solidFill>
                          <a:latin typeface="Noto Sans JP"/>
                        </a:rPr>
                        <a:t>3</a:t>
                      </a:r>
                    </a:p>
                  </a:txBody>
                  <a:tcPr marL="73152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2733"/>
                          </a:solidFill>
                          <a:latin typeface="Noto Sans JP"/>
                        </a:rPr>
                        <a:t>操作量ablationと持続性ベースラインを実装（タスク4.2）</a:t>
                      </a:r>
                    </a:p>
                  </a:txBody>
                  <a:tcPr marL="73152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2733"/>
                          </a:solidFill>
                          <a:latin typeface="Noto Sans JP"/>
                        </a:rPr>
                        <a:t>操作量を入れる効果を定量的に示せるか</a:t>
                      </a:r>
                    </a:p>
                  </a:txBody>
                  <a:tcPr marL="73152" marR="73152" marT="36576" marB="36576" anchor="ctr">
                    <a:noFill/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2733"/>
                          </a:solidFill>
                          <a:latin typeface="Noto Sans JP"/>
                        </a:rPr>
                        <a:t>4</a:t>
                      </a:r>
                    </a:p>
                  </a:txBody>
                  <a:tcPr marL="73152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2733"/>
                          </a:solidFill>
                          <a:latin typeface="Noto Sans JP"/>
                        </a:rPr>
                        <a:t>PCAベースライン（T²/SPE）との比較（fdi-evaluation-foundation spec）</a:t>
                      </a:r>
                    </a:p>
                  </a:txBody>
                  <a:tcPr marL="73152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2733"/>
                          </a:solidFill>
                          <a:latin typeface="Noto Sans JP"/>
                        </a:rPr>
                        <a:t>物理残差モデルの優位性を示せるか</a:t>
                      </a:r>
                    </a:p>
                  </a:txBody>
                  <a:tcPr marL="73152" marR="73152" marT="36576" marB="36576" anchor="ctr">
                    <a:noFill/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12901" y="4206240"/>
            <a:ext cx="1088318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3E4A59"/>
                </a:solidFill>
                <a:latin typeface="Noto Sans JP"/>
              </a:rPr>
              <a:t>項目1はλ同定の成否そのものを左右するため最優先とする。対処方針は未定（検討中）であり、次回までに複数案を比較する。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INNs論文とTEPへの適用検討">
  <a:themeElements>
    <a:clrScheme name="PINNs論文とTEPへの適用検討">
      <a:dk1>
        <a:srgbClr val="3E4A59"/>
      </a:dk1>
      <a:lt1>
        <a:srgbClr val="F7F7F4"/>
      </a:lt1>
      <a:dk2>
        <a:srgbClr val="6C7580"/>
      </a:dk2>
      <a:lt2>
        <a:srgbClr val="E5E6E5"/>
      </a:lt2>
      <a:accent1>
        <a:srgbClr val="2B63A8"/>
      </a:accent1>
      <a:accent2>
        <a:srgbClr val="9DB8DA"/>
      </a:accent2>
      <a:accent3>
        <a:srgbClr val="A8551F"/>
      </a:accent3>
      <a:accent4>
        <a:srgbClr val="1E2733"/>
      </a:accent4>
      <a:accent5>
        <a:srgbClr val="6A7480"/>
      </a:accent5>
      <a:accent6>
        <a:srgbClr val="C9D1DB"/>
      </a:accent6>
      <a:hlink>
        <a:srgbClr val="0563C1"/>
      </a:hlink>
      <a:folHlink>
        <a:srgbClr val="954F72"/>
      </a:folHlink>
    </a:clrScheme>
    <a:fontScheme name="PINNs論文とTEPへの適用検討">
      <a:majorFont>
        <a:latin typeface="Noto Sans JP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JP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PINNs論文とTEPへの適用検討</dc:title>
  <dc:subject/>
  <dc:creator/>
  <cp:lastModifiedBy/>
  <cp:revision>1</cp:revision>
  <dcterms:created xsi:type="dcterms:W3CDTF">2026-10-08T08:29:51Z</dcterms:created>
  <dcterms:modified xsi:type="dcterms:W3CDTF">2026-10-08T08:29:51Z</dcterms:modified>
</cp:coreProperties>
</file>